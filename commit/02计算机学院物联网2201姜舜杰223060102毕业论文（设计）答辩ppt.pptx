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8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18"/>
  </p:notesMasterIdLst>
  <p:sldIdLst>
    <p:sldId id="648" r:id="rId4"/>
    <p:sldId id="649" r:id="rId5"/>
    <p:sldId id="656" r:id="rId6"/>
    <p:sldId id="657" r:id="rId7"/>
    <p:sldId id="658" r:id="rId8"/>
    <p:sldId id="659" r:id="rId9"/>
    <p:sldId id="660" r:id="rId10"/>
    <p:sldId id="661" r:id="rId11"/>
    <p:sldId id="662" r:id="rId12"/>
    <p:sldId id="663" r:id="rId13"/>
    <p:sldId id="664" r:id="rId14"/>
    <p:sldId id="665" r:id="rId15"/>
    <p:sldId id="666" r:id="rId16"/>
    <p:sldId id="655" r:id="rId17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pitchFamily="34" charset="0"/>
      <p:regular r:id="rId23"/>
    </p:embeddedFont>
    <p:embeddedFont>
      <p:font typeface="黑体" panose="02010609060101010101" pitchFamily="49" charset="-122"/>
      <p:regular r:id="rId24"/>
    </p:embeddedFont>
    <p:embeddedFont>
      <p:font typeface="Broadway" panose="04040905080B02020502" pitchFamily="82" charset="0"/>
      <p:regular r:id="rId25"/>
    </p:embeddedFont>
  </p:embeddedFontLst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0"/>
    <a:srgbClr val="EAEAEA"/>
    <a:srgbClr val="DDDDDD"/>
    <a:srgbClr val="F5801F"/>
    <a:srgbClr val="B70005"/>
    <a:srgbClr val="F79443"/>
    <a:srgbClr val="F79F57"/>
    <a:srgbClr val="F8A662"/>
    <a:srgbClr val="000000"/>
    <a:srgbClr val="FFE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02" autoAdjust="0"/>
    <p:restoredTop sz="96140" autoAdjust="0"/>
  </p:normalViewPr>
  <p:slideViewPr>
    <p:cSldViewPr showGuides="1">
      <p:cViewPr varScale="1">
        <p:scale>
          <a:sx n="132" d="100"/>
          <a:sy n="132" d="100"/>
        </p:scale>
        <p:origin x="120" y="324"/>
      </p:cViewPr>
      <p:guideLst>
        <p:guide orient="horz" pos="1620"/>
        <p:guide pos="28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28.xml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22EEACF5-38E4-43F3-AD6C-152E0E6F0F6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7876F83F-2351-41D3-B516-F828B9F065A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emf"/><Relationship Id="rId4" Type="http://schemas.openxmlformats.org/officeDocument/2006/relationships/image" Target="../media/image4.png"/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86C1F-DB47-4F1F-A88D-18EAE259059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E8DE2-70B4-47DF-B941-5EC79761DD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D94F8-E8EB-4124-A038-07FA4AF8AA8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6AD62-9189-4F2D-A23D-D056F2EFEE6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1B037-BBB2-4FAA-81A8-C946BC462FF7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B7045-791B-4D6B-8A07-D200C31BBE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3298-1B6B-4523-AE7A-547FEC41098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6F736-A582-4D99-9D4D-AAA212FBBA6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865E6-DFA6-431D-9056-C3947FCE9315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9B0AE-4A6E-4354-92CD-DAC40BAEB03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D8673-8879-47E1-9961-851F1AAF457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F6FA8-50A8-45A9-9294-BF503ED4F5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18E5F-ADCA-4460-94CB-1B59D77EE3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77F88B-3B2C-4609-9234-4352C1DE216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C5161-4F38-42E2-BB6A-DA63B7CCF74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0607C-9CB3-4971-BC25-FE497560FB0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27AC2-E409-4C5D-B19B-94CF5354AEC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510FC-7018-4464-BD40-5DC8CAF8DB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EE5F2-E6CA-4E72-9774-D6D127AA674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6D0F5-3EF9-4F58-8E86-156217D01DE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BA0ED-0AF9-4AC5-A73A-325DEDFB69A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DA7ED-603E-479C-99D7-9FAB64A3AEC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4ABDF9-0E7C-4DDD-9CA6-B9DAADB5AE5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6B541-7A52-4020-9C8F-F667A4DBE86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4752-1F54-442C-92E6-8099B682640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16847-6FA0-48C1-AD0B-7ABAA0A4A03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00B2F-2B0B-4A7B-85AE-54601A98DC8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E499F-C248-466D-8062-66461D45223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1119A-8C71-42DA-AA22-70DAD461BEA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E4CF6-308E-45E8-87D5-55EC3E0F410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EAFD3-2CF2-4F72-8354-2573B94A853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F0F2-6578-40F0-98A2-BC881043654E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0EBCE-271E-41A9-A76C-64069E5EA54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82D1A-8E72-4FA0-AD9B-5CA991AA7D2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CEE5C-38EA-4436-9257-8539B22AF94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41A43-EF04-47A5-B682-F3763233DF0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DD651-6CB2-4593-9622-FE6BFAEAD23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98612-0061-4960-B106-947DDEB288A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B51EA-7F59-42F6-B582-17BE5119316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CAB75-28E2-42C9-95ED-98EB571A322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88371-E63D-47B2-AEF1-07449F63437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1438-10E0-4497-A788-941CBA108AE0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9" y="54769"/>
            <a:ext cx="719137" cy="534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7" descr="line.em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535781"/>
            <a:ext cx="6007100" cy="20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8" descr="line.em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569119"/>
            <a:ext cx="6007100" cy="20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9" descr="字体.pn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7250" y="116682"/>
            <a:ext cx="1682750" cy="36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10" descr="line2.emf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06689" y="4695825"/>
            <a:ext cx="6008687" cy="1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11" descr="line2.emf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06689" y="4732735"/>
            <a:ext cx="6008687" cy="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84633"/>
            <a:ext cx="8229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38A3A-2357-4966-A6AE-CA2EDBAAE7C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15064" y="4767263"/>
            <a:ext cx="2471737" cy="273844"/>
          </a:xfrm>
        </p:spPr>
        <p:txBody>
          <a:bodyPr/>
          <a:lstStyle>
            <a:lvl1pPr>
              <a:defRPr sz="1400" i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checker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94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00EDC6D-AD38-4BC7-8D78-068CEE25FCF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B34066-33C3-4592-BE63-5ED4A080182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Calibri" panose="020F050202020403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Calibri" panose="020F050202020403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Calibri" panose="020F0502020204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8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F0A5E6-790B-4C90-98B2-4879102FCDB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BF8271D-F4AA-4228-980E-B9249F53CF8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>
    <p:checker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webp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560" y="1563370"/>
            <a:ext cx="624522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800" b="1" dirty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FPGA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b="1" dirty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USB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键盘输入识别与显示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555776" y="2859782"/>
            <a:ext cx="3600450" cy="163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姓    名：姜舜杰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b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学    号：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223060102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</a:t>
            </a:r>
            <a:b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学    院：计算机学院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</a:t>
            </a:r>
            <a:b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专业班级：物联网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2201</a:t>
            </a:r>
            <a:b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指导教师：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惠浩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23112" y="720386"/>
            <a:ext cx="3420888" cy="33718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9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600" dirty="0">
                <a:solidFill>
                  <a:srgbClr val="9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届毕业论文（设计）答辩</a:t>
            </a:r>
            <a:endParaRPr lang="zh-CN" altLang="en-US" sz="1600" dirty="0">
              <a:solidFill>
                <a:srgbClr val="9A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80727" y="669925"/>
            <a:ext cx="982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6156176" y="47114"/>
            <a:ext cx="2952328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1"/>
                </a:solidFill>
                <a:latin typeface="+mn-ea"/>
                <a:ea typeface="+mn-ea"/>
              </a:rPr>
              <a:t>2026</a:t>
            </a:r>
            <a:r>
              <a:rPr lang="zh-CN" altLang="en-US" sz="1300" dirty="0">
                <a:solidFill>
                  <a:schemeClr val="bg1"/>
                </a:solidFill>
                <a:latin typeface="+mn-ea"/>
                <a:ea typeface="+mn-ea"/>
              </a:rPr>
              <a:t>届毕业论文（设计）答辩</a:t>
            </a:r>
            <a:endParaRPr lang="zh-CN" altLang="en-US" sz="13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"/>
            </p:custDataLst>
          </p:nvPr>
        </p:nvSpPr>
        <p:spPr>
          <a:xfrm>
            <a:off x="1763688" y="1178446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1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2300288" y="1178446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1763688" y="1754510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2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2300288" y="1754510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5"/>
            </p:custDataLst>
          </p:nvPr>
        </p:nvSpPr>
        <p:spPr>
          <a:xfrm>
            <a:off x="1763688" y="2330574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3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17" name="圆角矩形 16"/>
          <p:cNvSpPr/>
          <p:nvPr>
            <p:custDataLst>
              <p:tags r:id="rId6"/>
            </p:custDataLst>
          </p:nvPr>
        </p:nvSpPr>
        <p:spPr>
          <a:xfrm>
            <a:off x="2300288" y="2330574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7"/>
          <p:cNvSpPr txBox="1"/>
          <p:nvPr>
            <p:custDataLst>
              <p:tags r:id="rId7"/>
            </p:custDataLst>
          </p:nvPr>
        </p:nvSpPr>
        <p:spPr>
          <a:xfrm>
            <a:off x="2836687" y="1209804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研究背景和意义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8"/>
          <p:cNvSpPr txBox="1"/>
          <p:nvPr>
            <p:custDataLst>
              <p:tags r:id="rId8"/>
            </p:custDataLst>
          </p:nvPr>
        </p:nvSpPr>
        <p:spPr>
          <a:xfrm>
            <a:off x="2836687" y="17858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研究目的和内容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TextBox 8"/>
          <p:cNvSpPr txBox="1"/>
          <p:nvPr>
            <p:custDataLst>
              <p:tags r:id="rId9"/>
            </p:custDataLst>
          </p:nvPr>
        </p:nvSpPr>
        <p:spPr>
          <a:xfrm>
            <a:off x="2844942" y="2356733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研究方法和步骤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10"/>
            </p:custDataLst>
          </p:nvPr>
        </p:nvSpPr>
        <p:spPr>
          <a:xfrm>
            <a:off x="1764323" y="2928109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4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22" name="圆角矩形 21"/>
          <p:cNvSpPr/>
          <p:nvPr>
            <p:custDataLst>
              <p:tags r:id="rId11"/>
            </p:custDataLst>
          </p:nvPr>
        </p:nvSpPr>
        <p:spPr>
          <a:xfrm>
            <a:off x="2300923" y="2928109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8"/>
          <p:cNvSpPr txBox="1"/>
          <p:nvPr>
            <p:custDataLst>
              <p:tags r:id="rId12"/>
            </p:custDataLst>
          </p:nvPr>
        </p:nvSpPr>
        <p:spPr>
          <a:xfrm>
            <a:off x="2845577" y="2954268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拟解决的关键问题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2533943" y="2139201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1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3070543" y="2139201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3606942" y="2170559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研究背景和意义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427855" y="1148080"/>
            <a:ext cx="463486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研究背景</a:t>
            </a:r>
            <a:r>
              <a:rPr lang="zh-CN" altLang="en-US" sz="1600"/>
              <a:t>：</a:t>
            </a:r>
            <a:endParaRPr lang="en-US" altLang="zh-CN" sz="1600"/>
          </a:p>
          <a:p>
            <a:r>
              <a:rPr lang="en-US" altLang="zh-CN" sz="1600"/>
              <a:t>USB</a:t>
            </a:r>
            <a:r>
              <a:rPr lang="zh-CN" altLang="en-US" sz="1600"/>
              <a:t>成主流通信接口，自</a:t>
            </a:r>
            <a:r>
              <a:rPr lang="en-US" altLang="zh-CN" sz="1600"/>
              <a:t>1996</a:t>
            </a:r>
            <a:r>
              <a:rPr lang="zh-CN" altLang="en-US" sz="1600"/>
              <a:t>年发布后，凭借多种优势迅速取代传统接口。在</a:t>
            </a:r>
            <a:r>
              <a:rPr lang="en-US" altLang="zh-CN" sz="1600"/>
              <a:t>HID</a:t>
            </a:r>
            <a:r>
              <a:rPr lang="zh-CN" altLang="en-US" sz="1600"/>
              <a:t>领域，</a:t>
            </a:r>
            <a:r>
              <a:rPr lang="en-US" altLang="zh-CN" sz="1600"/>
              <a:t>USB</a:t>
            </a:r>
            <a:r>
              <a:rPr lang="zh-CN" altLang="en-US" sz="1600"/>
              <a:t>键盘成主导，</a:t>
            </a:r>
            <a:r>
              <a:rPr lang="en-US" altLang="zh-CN" sz="1600"/>
              <a:t>PS/2</a:t>
            </a:r>
            <a:r>
              <a:rPr lang="zh-CN" altLang="en-US" sz="1600"/>
              <a:t>接口键盘渐消失。但在</a:t>
            </a:r>
            <a:r>
              <a:rPr lang="en-US" altLang="zh-CN" sz="1600"/>
              <a:t>FPGA</a:t>
            </a:r>
            <a:r>
              <a:rPr lang="zh-CN" altLang="en-US" sz="1600"/>
              <a:t>教学与基础应用开发中，</a:t>
            </a:r>
            <a:r>
              <a:rPr lang="en-US" altLang="zh-CN" sz="1600"/>
              <a:t>PS/2</a:t>
            </a:r>
            <a:r>
              <a:rPr lang="zh-CN" altLang="en-US" sz="1600"/>
              <a:t>接口因协议简单，长期是实验教学首选。</a:t>
            </a:r>
            <a:r>
              <a:rPr lang="en-US" altLang="zh-CN" sz="1600"/>
              <a:t>USB</a:t>
            </a:r>
            <a:r>
              <a:rPr lang="zh-CN" altLang="en-US" sz="1600"/>
              <a:t>协议复杂，涉及多种底层机制，在</a:t>
            </a:r>
            <a:r>
              <a:rPr lang="en-US" altLang="zh-CN" sz="1600"/>
              <a:t>FPGA</a:t>
            </a:r>
            <a:r>
              <a:rPr lang="zh-CN" altLang="en-US" sz="1600"/>
              <a:t>嵌入式系统设计中，直接实现</a:t>
            </a:r>
            <a:r>
              <a:rPr lang="en-US" altLang="zh-CN" sz="1600"/>
              <a:t>USB</a:t>
            </a:r>
            <a:r>
              <a:rPr lang="zh-CN" altLang="en-US" sz="1600"/>
              <a:t>主控功能驱动</a:t>
            </a:r>
            <a:r>
              <a:rPr lang="en-US" altLang="zh-CN" sz="1600"/>
              <a:t>USB</a:t>
            </a:r>
            <a:r>
              <a:rPr lang="zh-CN" altLang="en-US" sz="1600"/>
              <a:t>键盘技术门槛高。当前</a:t>
            </a:r>
            <a:r>
              <a:rPr lang="en-US" altLang="zh-CN" sz="1600"/>
              <a:t>FPGA</a:t>
            </a:r>
            <a:r>
              <a:rPr lang="zh-CN" altLang="en-US" sz="1600"/>
              <a:t>技术向高集成度等方向发展，在多领域需脱离通用</a:t>
            </a:r>
            <a:r>
              <a:rPr lang="en-US" altLang="zh-CN" sz="1600"/>
              <a:t>PC</a:t>
            </a:r>
            <a:r>
              <a:rPr lang="zh-CN" altLang="en-US" sz="1600"/>
              <a:t>架构构建独立控制系统。在这些系统中，如何便捷接入标准</a:t>
            </a:r>
            <a:r>
              <a:rPr lang="en-US" altLang="zh-CN" sz="1600"/>
              <a:t>USB</a:t>
            </a:r>
            <a:r>
              <a:rPr lang="zh-CN" altLang="en-US" sz="1600"/>
              <a:t>人机交互设备实现灵活用户输入，是亟待解决的工程问题。</a:t>
            </a:r>
            <a:endParaRPr lang="zh-CN" altLang="en-US" sz="16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251460" y="987425"/>
            <a:ext cx="4086860" cy="3367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0" y="699770"/>
            <a:ext cx="442849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zh-CN" altLang="en-US" sz="2000" b="1"/>
              <a:t>研究意义</a:t>
            </a:r>
            <a:r>
              <a:rPr lang="zh-CN" altLang="en-US"/>
              <a:t>：</a:t>
            </a:r>
            <a:endParaRPr lang="en-US" altLang="zh-CN"/>
          </a:p>
          <a:p>
            <a:pPr lvl="0"/>
            <a:r>
              <a:rPr lang="zh-CN" altLang="zh-CN" b="1"/>
              <a:t>技术挑战与能力提升</a:t>
            </a:r>
            <a:r>
              <a:rPr lang="zh-CN" altLang="zh-CN"/>
              <a:t>：</a:t>
            </a:r>
            <a:r>
              <a:rPr lang="zh-CN" altLang="en-US"/>
              <a:t>用硬件描述语言实现</a:t>
            </a:r>
            <a:r>
              <a:rPr lang="en-US" altLang="zh-CN"/>
              <a:t>USB 1.1/2.0</a:t>
            </a:r>
            <a:r>
              <a:rPr lang="zh-CN" altLang="en-US"/>
              <a:t>协议栈子集，加深对高速串行通信等理解。</a:t>
            </a:r>
            <a:endParaRPr lang="en-US" altLang="zh-CN"/>
          </a:p>
          <a:p>
            <a:pPr lvl="0"/>
            <a:r>
              <a:rPr lang="zh-CN" altLang="zh-CN" b="1"/>
              <a:t>去</a:t>
            </a:r>
            <a:r>
              <a:rPr lang="en-US" altLang="zh-CN" b="1"/>
              <a:t>PC</a:t>
            </a:r>
            <a:r>
              <a:rPr lang="zh-CN" altLang="en-US" b="1"/>
              <a:t>化独立系统构建</a:t>
            </a:r>
            <a:r>
              <a:rPr lang="zh-CN" altLang="en-US"/>
              <a:t>：特定场景需独立安全系统。</a:t>
            </a:r>
            <a:r>
              <a:rPr lang="en-US" altLang="zh-CN"/>
              <a:t>FPGA</a:t>
            </a:r>
            <a:r>
              <a:rPr lang="zh-CN" altLang="en-US"/>
              <a:t>直接读</a:t>
            </a:r>
            <a:r>
              <a:rPr lang="en-US" altLang="zh-CN"/>
              <a:t>USB</a:t>
            </a:r>
            <a:r>
              <a:rPr lang="zh-CN" altLang="en-US"/>
              <a:t>键盘，构建纯硬件输入系统，提高安全性与实时性。</a:t>
            </a:r>
            <a:endParaRPr lang="en-US" altLang="zh-CN"/>
          </a:p>
          <a:p>
            <a:pPr lvl="0"/>
            <a:r>
              <a:rPr lang="en-US" altLang="zh-CN"/>
              <a:t>IP</a:t>
            </a:r>
            <a:r>
              <a:rPr lang="zh-CN" altLang="en-US"/>
              <a:t>核设计与复用：设计可复用</a:t>
            </a:r>
            <a:r>
              <a:rPr lang="en-US" altLang="zh-CN"/>
              <a:t>USB HID Host IP</a:t>
            </a:r>
            <a:r>
              <a:rPr lang="zh-CN" altLang="en-US"/>
              <a:t>核，开发后可集成到其他</a:t>
            </a:r>
            <a:r>
              <a:rPr lang="en-US" altLang="zh-CN"/>
              <a:t>FPGA</a:t>
            </a:r>
            <a:r>
              <a:rPr lang="zh-CN" altLang="en-US"/>
              <a:t>项目，复用价值高。</a:t>
            </a:r>
            <a:endParaRPr lang="en-US" altLang="zh-CN"/>
          </a:p>
          <a:p>
            <a:pPr lvl="0"/>
            <a:r>
              <a:rPr lang="zh-CN" altLang="zh-CN" b="1"/>
              <a:t>填补应用空白</a:t>
            </a:r>
            <a:r>
              <a:rPr lang="zh-CN" altLang="zh-CN"/>
              <a:t>：本课题利用</a:t>
            </a:r>
            <a:r>
              <a:rPr lang="en-US" altLang="zh-CN"/>
              <a:t>FPGA</a:t>
            </a:r>
            <a:r>
              <a:rPr lang="zh-CN" altLang="en-US"/>
              <a:t>内部逻辑资源实现</a:t>
            </a:r>
            <a:r>
              <a:rPr lang="en-US" altLang="zh-CN"/>
              <a:t>USB</a:t>
            </a:r>
            <a:r>
              <a:rPr lang="zh-CN" altLang="en-US"/>
              <a:t>功能，具教育意义，降低外部芯片依赖与</a:t>
            </a:r>
            <a:r>
              <a:rPr lang="en-US" altLang="zh-CN"/>
              <a:t>BOM</a:t>
            </a:r>
            <a:r>
              <a:rPr lang="zh-CN" altLang="en-US"/>
              <a:t>成本。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560" y="1131570"/>
            <a:ext cx="4537075" cy="24949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2594903" y="1779275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2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3131503" y="1779275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3667902" y="1810633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研究目的和内容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79930" y="555942"/>
            <a:ext cx="5080000" cy="3938270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研究目的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：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本课题的主要目的是基于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平台，设计并实现一个能够作为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主机的系统，该系统能够直接驱动标准的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键盘，完成底层的枚举过程，实时捕获按键的扫描码，将其解码为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ASCII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码，并最终在显示设备上显示出来。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具体目标如下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掌握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 1.1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通信协议的物理层和协议层规范。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设计能够处理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差分信号、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NRZI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解码和位填充移除的底层逻辑模块。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3.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实现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 HID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类的枚举状态机，能够识别键盘设备的接入并完成配置。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4.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构建扫描码到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ASCII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码的查找表，实现大小写切换及组合键识别。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5.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验证系统的稳定性，确保无丢键、误码率极低。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98880" y="543560"/>
            <a:ext cx="6649720" cy="419481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研究内容：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latin typeface="Times New Roman" panose="02020603050405020304"/>
                <a:ea typeface="宋体" panose="02010600030101010101" pitchFamily="2" charset="-122"/>
              </a:rPr>
              <a:t>本项目设计并实现基于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低速主机系统，识别枚举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HID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键盘，捕获按键输入，显示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ASCII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码。项目遵循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协议分层架构，全面覆盖关键环节。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首先，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物理层设计分析低速模式差分信号线电气特性，识别解码总线状态，设计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NRZI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编解码逻辑模块，实现位填充与去填充机制。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其次，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协议层逻辑设计组织原始比特流，核心任务是包处理，解析各种包类型，实现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CRC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校验算法。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本课题核心与难点在于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主机控制器设计与设备枚举过程实现，需设计主状态机模拟主机行为，包括检测设备、分配地址、读取解析描述符、激活键盘、轮询读取输入报告。成功获取数据后，系统进入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HID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数据解析与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ASCII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转换阶段，解析输入报告，利用映射表转换扫描码为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ASCII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码，处理修饰键字符变化。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lv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最后，项目设计显示控制模块，根据显示终端编写时序驱动代码，若采用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VGA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显示，还需设计点阵字符发生器，完成从物理信号到人机交互闭环。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223060102             </a:t>
            </a:r>
            <a:r>
              <a:rPr lang="zh-CN" altLang="en-US" sz="1800"/>
              <a:t>姜</a:t>
            </a:r>
            <a:r>
              <a:rPr lang="zh-CN" altLang="en-US" sz="1800"/>
              <a:t>舜杰</a:t>
            </a:r>
            <a:endParaRPr lang="zh-CN" altLang="en-US" sz="1800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惠浩</a:t>
            </a:r>
            <a:r>
              <a:rPr lang="en-US" altLang="zh-CN" sz="1800"/>
              <a:t>                    </a:t>
            </a:r>
            <a:r>
              <a:rPr lang="zh-CN" altLang="en-US" sz="1800"/>
              <a:t>物联网</a:t>
            </a:r>
            <a:r>
              <a:rPr lang="zh-CN" altLang="en-US" sz="1800"/>
              <a:t>工程</a:t>
            </a:r>
            <a:endParaRPr lang="zh-CN" altLang="en-US" sz="1800"/>
          </a:p>
        </p:txBody>
      </p:sp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1736383" y="2139439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3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272983" y="2139439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TextBox 8"/>
          <p:cNvSpPr txBox="1"/>
          <p:nvPr>
            <p:custDataLst>
              <p:tags r:id="rId3"/>
            </p:custDataLst>
          </p:nvPr>
        </p:nvSpPr>
        <p:spPr>
          <a:xfrm>
            <a:off x="2817637" y="216559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研究方法和步骤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223060102             </a:t>
            </a:r>
            <a:r>
              <a:rPr lang="zh-CN" altLang="en-US" sz="1800"/>
              <a:t>姜</a:t>
            </a:r>
            <a:r>
              <a:rPr lang="zh-CN" altLang="en-US" sz="1800"/>
              <a:t>舜杰</a:t>
            </a:r>
            <a:endParaRPr lang="zh-CN" altLang="en-US" sz="1800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惠浩</a:t>
            </a:r>
            <a:r>
              <a:rPr lang="en-US" altLang="zh-CN" sz="1800"/>
              <a:t>                    </a:t>
            </a:r>
            <a:r>
              <a:rPr lang="zh-CN" altLang="en-US" sz="1800"/>
              <a:t>物联网</a:t>
            </a:r>
            <a:r>
              <a:rPr lang="zh-CN" altLang="en-US" sz="1800"/>
              <a:t>工程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2032000" y="987107"/>
            <a:ext cx="5080000" cy="316928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研究方法：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首先为了理清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FPGA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键盘输入识别与显示相关已有的技术文档应当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深入研读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 2.0 Specification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Device Class Definition for HID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等官方文档，以及相关的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设计教材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。为了让整个开发过程便于追踪迭代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将整个系统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以模块化开发的思维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划分为时钟分频模块、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物理层接口模块、协议引擎模块、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HID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解码模块和显示驱动模块。定义清晰的模块接口，便于独立开发和调试。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为了避免对硬件设备的不了解导致恶劣后果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在编写代码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并烧录至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前，先绘制时序图。在编写代码后，利用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ModelSim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Vivado Simulator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Testbench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，模拟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设备的行为，验证主机逻辑的正确性。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223060102             </a:t>
            </a:r>
            <a:r>
              <a:rPr lang="zh-CN" altLang="en-US" sz="1800"/>
              <a:t>姜</a:t>
            </a:r>
            <a:r>
              <a:rPr lang="zh-CN" altLang="en-US" sz="1800"/>
              <a:t>舜杰</a:t>
            </a:r>
            <a:endParaRPr lang="zh-CN" altLang="en-US" sz="1800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惠浩</a:t>
            </a:r>
            <a:r>
              <a:rPr lang="en-US" altLang="zh-CN" sz="1800"/>
              <a:t>                    </a:t>
            </a:r>
            <a:r>
              <a:rPr lang="zh-CN" altLang="en-US" sz="1800"/>
              <a:t>物联网</a:t>
            </a:r>
            <a:r>
              <a:rPr lang="zh-CN" altLang="en-US" sz="1800"/>
              <a:t>工程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35560" y="576580"/>
            <a:ext cx="9072245" cy="39382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研究步骤：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确定题目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理论储备与环境搭建：收集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协议规范文档，重点阅读低速模式章节。熟悉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FPGA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开发板，了解板载接口电路，确定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接口的引脚定义（需要注意电平匹配，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信号通常为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3.3V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FPGA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引脚需配置正确）。安装并配置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EDA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开发环境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物理层与底层逻辑实现：编写时钟管理单元，生成采样时钟（通常为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位速率的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倍或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倍，即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6MHz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或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12MHz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用于低速模式）。编写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NRZI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编解码模块和位填充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/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去填充模块。编写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CRC5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CRC16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校验模块。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协议引擎与枚举状态机设计：设计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主控状态机（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FSM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）。实现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SETUP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事务、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IN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事务和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OUT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事务的基本控制逻辑。编写枚举序列逻辑，尝试与真实的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键盘进行握手。此阶段最为艰难，需要反复通过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SignalTap/ILA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抓包调试，观察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SETUP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包是否被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ACK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，设备地址是否设置成功。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5.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数据解码与显示集成：实现周期性的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IN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请求，获取键盘按键数据。编写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HID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报告解析器，提取按键值。设计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ASCII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码转换逻辑，处理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Shift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和大写锁定状态。编写显示模块，将解码后的字符输出到屏幕。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223060102             </a:t>
            </a:r>
            <a:r>
              <a:rPr lang="zh-CN" altLang="en-US" sz="1800"/>
              <a:t>姜</a:t>
            </a:r>
            <a:r>
              <a:rPr lang="zh-CN" altLang="en-US" sz="1800"/>
              <a:t>舜杰</a:t>
            </a:r>
            <a:endParaRPr lang="zh-CN" altLang="en-US" sz="1800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惠浩</a:t>
            </a:r>
            <a:r>
              <a:rPr lang="en-US" altLang="zh-CN" sz="1800"/>
              <a:t>                    </a:t>
            </a:r>
            <a:r>
              <a:rPr lang="zh-CN" altLang="en-US" sz="1800"/>
              <a:t>物联网</a:t>
            </a:r>
            <a:r>
              <a:rPr lang="zh-CN" altLang="en-US" sz="1800"/>
              <a:t>工程</a:t>
            </a:r>
            <a:endParaRPr lang="zh-CN" altLang="en-US" sz="1800"/>
          </a:p>
        </p:txBody>
      </p:sp>
      <p:sp>
        <p:nvSpPr>
          <p:cNvPr id="12" name="圆角矩形 11"/>
          <p:cNvSpPr/>
          <p:nvPr>
            <p:custDataLst>
              <p:tags r:id="rId1"/>
            </p:custDataLst>
          </p:nvPr>
        </p:nvSpPr>
        <p:spPr>
          <a:xfrm>
            <a:off x="1874813" y="2067684"/>
            <a:ext cx="43204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oadway" panose="04040905080B02020502" pitchFamily="82" charset="0"/>
                <a:ea typeface="Adobe Myungjo Std M" panose="02020600000000000000" pitchFamily="18" charset="-128"/>
              </a:rPr>
              <a:t>4</a:t>
            </a:r>
            <a:endParaRPr lang="zh-CN" alt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oadway" panose="04040905080B02020502" pitchFamily="82" charset="0"/>
              <a:ea typeface="Adobe Myungjo Std M" panose="02020600000000000000" pitchFamily="18" charset="-128"/>
            </a:endParaRPr>
          </a:p>
        </p:txBody>
      </p: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2411413" y="2067684"/>
            <a:ext cx="4575968" cy="432048"/>
          </a:xfrm>
          <a:prstGeom prst="roundRect">
            <a:avLst>
              <a:gd name="adj" fmla="val 6215"/>
            </a:avLst>
          </a:prstGeom>
          <a:gradFill flip="none" rotWithShape="1">
            <a:gsLst>
              <a:gs pos="80000">
                <a:schemeClr val="bg1">
                  <a:lumMod val="97000"/>
                </a:schemeClr>
              </a:gs>
              <a:gs pos="15000">
                <a:schemeClr val="bg1">
                  <a:lumMod val="90000"/>
                  <a:lumOff val="10000"/>
                </a:schemeClr>
              </a:gs>
            </a:gsLst>
            <a:lin ang="5400000" scaled="1"/>
            <a:tileRect/>
          </a:gradFill>
          <a:ln w="3175">
            <a:solidFill>
              <a:schemeClr val="bg1">
                <a:lumMod val="75000"/>
                <a:alpha val="35000"/>
              </a:schemeClr>
            </a:solidFill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TextBox 8"/>
          <p:cNvSpPr txBox="1"/>
          <p:nvPr>
            <p:custDataLst>
              <p:tags r:id="rId3"/>
            </p:custDataLst>
          </p:nvPr>
        </p:nvSpPr>
        <p:spPr>
          <a:xfrm>
            <a:off x="2956067" y="2093843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拟解决的关键问题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223060102             </a:t>
            </a:r>
            <a:r>
              <a:rPr lang="zh-CN" altLang="en-US" sz="1800"/>
              <a:t>姜</a:t>
            </a:r>
            <a:r>
              <a:rPr lang="zh-CN" altLang="en-US" sz="1800"/>
              <a:t>舜杰</a:t>
            </a:r>
            <a:endParaRPr lang="zh-CN" altLang="en-US" sz="1800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惠浩</a:t>
            </a:r>
            <a:r>
              <a:rPr lang="en-US" altLang="zh-CN" sz="1800"/>
              <a:t>                    </a:t>
            </a:r>
            <a:r>
              <a:rPr lang="zh-CN" altLang="en-US" sz="1800"/>
              <a:t>物联网</a:t>
            </a:r>
            <a:r>
              <a:rPr lang="zh-CN" altLang="en-US" sz="1800"/>
              <a:t>工程</a:t>
            </a:r>
            <a:endParaRPr lang="zh-CN" altLang="en-US" sz="180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5400" y="606425"/>
            <a:ext cx="9084310" cy="4197350"/>
          </a:xfrm>
          <a:prstGeom prst="rect">
            <a:avLst/>
          </a:prstGeom>
        </p:spPr>
        <p:txBody>
          <a:bodyPr wrap="square">
            <a:noAutofit/>
          </a:bodyPr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1. USB Host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逻辑实现复杂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：标准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USB Host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由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OS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和驱动控制，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实现需用硬件状态机替代软件协议栈，逻辑复杂易死锁。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：简化协议栈：仅实现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HID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键盘所需低速传输和控制传输，忽略批量和等时传输及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USB Hub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支持，仅直连。状态机分解：分事务层和应用层，降低耦合。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跨时钟域与信号同步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低速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1.5Mbps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时钟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50/100MHz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，异步输入易产生亚稳态。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：过采样技术：用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48MHz+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时钟采样，边沿检测恢复时钟，双级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触发器消除亚稳态。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差分信号双向控制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USB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数据线半双工，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需快速切换模式，总线冲突致短路或畸变。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：精确控制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FPGA IO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口三态门，状态机中设保护时间，插入空闲态确保稳定后切换。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4. HID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描述符变长解析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：部分键盘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HID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描述符长度不一，数据包格式有差异。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defTabSz="26670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zh-CN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：优先支持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Boot Protocol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模式，强制设置键盘为该模式，固定数据报告格式（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字节），避免解析复杂报表。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307811" y="1707651"/>
            <a:ext cx="4392488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  <a:spcAft>
                <a:spcPct val="40000"/>
              </a:spcAft>
              <a:buClr>
                <a:srgbClr val="292929"/>
              </a:buClr>
              <a:defRPr/>
            </a:pPr>
            <a:r>
              <a:rPr lang="zh-CN" altLang="en-US" sz="4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感谢聆听</a:t>
            </a:r>
            <a:endParaRPr lang="de-DE" altLang="zh-CN" sz="4800" b="1" noProof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56176" y="47114"/>
            <a:ext cx="2952328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1"/>
                </a:solidFill>
                <a:latin typeface="+mn-ea"/>
                <a:ea typeface="+mn-ea"/>
              </a:rPr>
              <a:t>2026</a:t>
            </a:r>
            <a:r>
              <a:rPr lang="zh-CN" altLang="en-US" sz="1300" dirty="0">
                <a:solidFill>
                  <a:schemeClr val="bg1"/>
                </a:solidFill>
                <a:latin typeface="+mn-ea"/>
                <a:ea typeface="+mn-ea"/>
              </a:rPr>
              <a:t>届毕业论文（设计）答辩</a:t>
            </a:r>
            <a:endParaRPr lang="zh-CN" altLang="en-US" sz="13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0" y="2679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FPGA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键盘输入识别与显示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1187450" y="4803775"/>
            <a:ext cx="3048000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223060102             </a:t>
            </a:r>
            <a:r>
              <a:rPr lang="zh-CN" altLang="en-US"/>
              <a:t>姜</a:t>
            </a:r>
            <a:r>
              <a:rPr lang="zh-CN" altLang="en-US"/>
              <a:t>舜杰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92090" y="4803775"/>
            <a:ext cx="3476625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惠浩</a:t>
            </a:r>
            <a:r>
              <a:rPr lang="en-US" altLang="zh-CN"/>
              <a:t>                    </a:t>
            </a:r>
            <a:r>
              <a:rPr lang="zh-CN" altLang="en-US"/>
              <a:t>物联网</a:t>
            </a:r>
            <a:r>
              <a:rPr lang="zh-CN" altLang="en-US"/>
              <a:t>工程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2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3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4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5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6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7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8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9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10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11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12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02.6144094488189}"/>
</p:tagLst>
</file>

<file path=ppt/tags/tag13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3.2144094488188}"/>
</p:tagLst>
</file>

<file path=ppt/tags/tag14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3.2144094488188}"/>
</p:tagLst>
</file>

<file path=ppt/tags/tag15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3.2144094488188}"/>
</p:tagLst>
</file>

<file path=ppt/tags/tag16.xml><?xml version="1.0" encoding="utf-8"?>
<p:tagLst xmlns:p="http://schemas.openxmlformats.org/presentationml/2006/main">
  <p:tag name="wpp_generatetext" val="1"/>
</p:tagLst>
</file>

<file path=ppt/tags/tag17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8.0144094488188}"/>
</p:tagLst>
</file>

<file path=ppt/tags/tag18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8.0144094488188}"/>
</p:tagLst>
</file>

<file path=ppt/tags/tag19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68.0144094488188}"/>
</p:tagLst>
</file>

<file path=ppt/tags/tag20.xml><?xml version="1.0" encoding="utf-8"?>
<p:tagLst xmlns:p="http://schemas.openxmlformats.org/presentationml/2006/main">
  <p:tag name="wpp_generatetext" val="1"/>
</p:tagLst>
</file>

<file path=ppt/tags/tag21.xml><?xml version="1.0" encoding="utf-8"?>
<p:tagLst xmlns:p="http://schemas.openxmlformats.org/presentationml/2006/main">
  <p:tag name="KSO_WM_DIAGRAM_VIRTUALLY_FRAME" val="{&quot;height&quot;:171.78826771653544,&quot;left&quot;:136.72307086614174,&quot;top&quot;:92.79102362204725,&quot;width&quot;:404.76440944881887}"/>
</p:tagLst>
</file>

<file path=ppt/tags/tag22.xml><?xml version="1.0" encoding="utf-8"?>
<p:tagLst xmlns:p="http://schemas.openxmlformats.org/presentationml/2006/main">
  <p:tag name="KSO_WM_DIAGRAM_VIRTUALLY_FRAME" val="{&quot;height&quot;:171.78826771653544,&quot;left&quot;:136.72307086614174,&quot;top&quot;:92.79102362204725,&quot;width&quot;:404.76440944881887}"/>
</p:tagLst>
</file>

<file path=ppt/tags/tag23.xml><?xml version="1.0" encoding="utf-8"?>
<p:tagLst xmlns:p="http://schemas.openxmlformats.org/presentationml/2006/main">
  <p:tag name="KSO_WM_DIAGRAM_VIRTUALLY_FRAME" val="{&quot;height&quot;:171.78826771653544,&quot;left&quot;:136.72307086614174,&quot;top&quot;:92.79102362204725,&quot;width&quot;:404.76440944881887}"/>
</p:tagLst>
</file>

<file path=ppt/tags/tag24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11.3144094488189}"/>
</p:tagLst>
</file>

<file path=ppt/tags/tag25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11.3144094488189}"/>
</p:tagLst>
</file>

<file path=ppt/tags/tag26.xml><?xml version="1.0" encoding="utf-8"?>
<p:tagLst xmlns:p="http://schemas.openxmlformats.org/presentationml/2006/main">
  <p:tag name="KSO_WM_DIAGRAM_VIRTUALLY_FRAME" val="{&quot;height&quot;:171.78826771653544,&quot;left&quot;:138.87307086614175,&quot;top&quot;:92.79102362204725,&quot;width&quot;:411.3144094488189}"/>
</p:tagLst>
</file>

<file path=ppt/tags/tag27.xml><?xml version="1.0" encoding="utf-8"?>
<p:tagLst xmlns:p="http://schemas.openxmlformats.org/presentationml/2006/main">
  <p:tag name="wpp_generatetext" val="1"/>
</p:tagLst>
</file>

<file path=ppt/tags/tag28.xml><?xml version="1.0" encoding="utf-8"?>
<p:tagLst xmlns:p="http://schemas.openxmlformats.org/presentationml/2006/main">
  <p:tag name="ISPRING_RESOURCE_PATHS_HASH_2" val="ed535076df9b3f9de0c4d3e5f85e13307d17b891"/>
  <p:tag name="ARTICULATE_PROJECT_OPEN" val="0"/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648&quot;/&gt;&lt;/object&gt;&lt;object type=&quot;3&quot; unique_id=&quot;10005&quot;&gt;&lt;property id=&quot;20148&quot; value=&quot;5&quot;/&gt;&lt;property id=&quot;20300&quot; value=&quot;Slide 2&quot;/&gt;&lt;property id=&quot;20307&quot; value=&quot;649&quot;/&gt;&lt;/object&gt;&lt;object type=&quot;3&quot; unique_id=&quot;10006&quot;&gt;&lt;property id=&quot;20148&quot; value=&quot;5&quot;/&gt;&lt;property id=&quot;20300&quot; value=&quot;Slide 3&quot;/&gt;&lt;property id=&quot;20307&quot; value=&quot;650&quot;/&gt;&lt;/object&gt;&lt;object type=&quot;3&quot; unique_id=&quot;10007&quot;&gt;&lt;property id=&quot;20148&quot; value=&quot;5&quot;/&gt;&lt;property id=&quot;20300&quot; value=&quot;Slide 4&quot;/&gt;&lt;property id=&quot;20307&quot; value=&quot;651&quot;/&gt;&lt;/object&gt;&lt;object type=&quot;3&quot; unique_id=&quot;10008&quot;&gt;&lt;property id=&quot;20148&quot; value=&quot;5&quot;/&gt;&lt;property id=&quot;20300&quot; value=&quot;Slide 5&quot;/&gt;&lt;property id=&quot;20307&quot; value=&quot;654&quot;/&gt;&lt;/object&gt;&lt;object type=&quot;3&quot; unique_id=&quot;10009&quot;&gt;&lt;property id=&quot;20148&quot; value=&quot;5&quot;/&gt;&lt;property id=&quot;20300&quot; value=&quot;Slide 6&quot;/&gt;&lt;property id=&quot;20307&quot; value=&quot;656&quot;/&gt;&lt;/object&gt;&lt;object type=&quot;3&quot; unique_id=&quot;10010&quot;&gt;&lt;property id=&quot;20148&quot; value=&quot;5&quot;/&gt;&lt;property id=&quot;20300&quot; value=&quot;Slide 7&quot;/&gt;&lt;property id=&quot;20307&quot; value=&quot;657&quot;/&gt;&lt;/object&gt;&lt;object type=&quot;3&quot; unique_id=&quot;10011&quot;&gt;&lt;property id=&quot;20148&quot; value=&quot;5&quot;/&gt;&lt;property id=&quot;20300&quot; value=&quot;Slide 8&quot;/&gt;&lt;property id=&quot;20307&quot; value=&quot;659&quot;/&gt;&lt;/object&gt;&lt;object type=&quot;3&quot; unique_id=&quot;10012&quot;&gt;&lt;property id=&quot;20148&quot; value=&quot;5&quot;/&gt;&lt;property id=&quot;20300&quot; value=&quot;Slide 9&quot;/&gt;&lt;property id=&quot;20307&quot; value=&quot;662&quot;/&gt;&lt;/object&gt;&lt;object type=&quot;3&quot; unique_id=&quot;10013&quot;&gt;&lt;property id=&quot;20148&quot; value=&quot;5&quot;/&gt;&lt;property id=&quot;20300&quot; value=&quot;Slide 10&quot;/&gt;&lt;property id=&quot;20307&quot; value=&quot;661&quot;/&gt;&lt;/object&gt;&lt;object type=&quot;3&quot; unique_id=&quot;10014&quot;&gt;&lt;property id=&quot;20148&quot; value=&quot;5&quot;/&gt;&lt;property id=&quot;20300&quot; value=&quot;Slide 11&quot;/&gt;&lt;property id=&quot;20307&quot; value=&quot;660&quot;/&gt;&lt;/object&gt;&lt;object type=&quot;3&quot; unique_id=&quot;10015&quot;&gt;&lt;property id=&quot;20148&quot; value=&quot;5&quot;/&gt;&lt;property id=&quot;20300&quot; value=&quot;Slide 12&quot;/&gt;&lt;property id=&quot;20307&quot; value=&quot;655&quot;/&gt;&lt;/object&gt;&lt;/object&gt;&lt;/object&gt;&lt;/database&gt;"/>
  <p:tag name="SECTOMILLISECCONVERTED" val="1"/>
  <p:tag name="KSO_WPP_MARK_KEY" val="a19273b5-b6e4-42bd-bb06-c43f9d8230d1"/>
  <p:tag name="COMMONDATA" val="eyJoZGlkIjoiYzdiMTFiMzViOTFlNTcyODJjNWE0ZGFhZGU1YjBiNT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我的字体设置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rtlCol="0">
        <a:spAutoFit/>
      </a:bodyPr>
      <a:lstStyle>
        <a:defPPr>
          <a:defRPr sz="1600" dirty="0" smtClean="0"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3522</Words>
  <Application>WPS 演示</Application>
  <PresentationFormat>全屏显示(16:9)</PresentationFormat>
  <Paragraphs>173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华文楷体</vt:lpstr>
      <vt:lpstr>黑体</vt:lpstr>
      <vt:lpstr>Broadway</vt:lpstr>
      <vt:lpstr>Adobe Myungjo Std M</vt:lpstr>
      <vt:lpstr>Arial Unicode MS</vt:lpstr>
      <vt:lpstr>Times New Roman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126PPT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baihao</dc:creator>
  <cp:lastModifiedBy>铛熊</cp:lastModifiedBy>
  <cp:revision>781</cp:revision>
  <dcterms:created xsi:type="dcterms:W3CDTF">2012-04-03T10:05:00Z</dcterms:created>
  <dcterms:modified xsi:type="dcterms:W3CDTF">2025-12-26T17:07:36Z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6663660738C14AC9BEA321CED68427EA_13</vt:lpwstr>
  </property>
  <property fmtid="{D5CDD505-2E9C-101B-9397-08002B2CF9AE}" pid="3" name="KSOProductBuildVer">
    <vt:lpwstr>2052-12.1.0.24034</vt:lpwstr>
  </property>
</Properties>
</file>